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840" r:id="rId1"/>
  </p:sldMasterIdLst>
  <p:notesMasterIdLst>
    <p:notesMasterId r:id="rId12"/>
  </p:notesMasterIdLst>
  <p:handoutMasterIdLst>
    <p:handoutMasterId r:id="rId13"/>
  </p:handoutMasterIdLst>
  <p:sldIdLst>
    <p:sldId id="1035" r:id="rId2"/>
    <p:sldId id="887" r:id="rId3"/>
    <p:sldId id="1037" r:id="rId4"/>
    <p:sldId id="1036" r:id="rId5"/>
    <p:sldId id="1042" r:id="rId6"/>
    <p:sldId id="1043" r:id="rId7"/>
    <p:sldId id="1041" r:id="rId8"/>
    <p:sldId id="1040" r:id="rId9"/>
    <p:sldId id="1039" r:id="rId10"/>
    <p:sldId id="103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04E2"/>
    <a:srgbClr val="0F04EE"/>
    <a:srgbClr val="070272"/>
    <a:srgbClr val="3E0000"/>
    <a:srgbClr val="FF99FF"/>
    <a:srgbClr val="FBFDE9"/>
    <a:srgbClr val="FFFAE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5" autoAdjust="0"/>
    <p:restoredTop sz="92549" autoAdjust="0"/>
  </p:normalViewPr>
  <p:slideViewPr>
    <p:cSldViewPr>
      <p:cViewPr varScale="1">
        <p:scale>
          <a:sx n="76" d="100"/>
          <a:sy n="76" d="100"/>
        </p:scale>
        <p:origin x="1627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01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2429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981E1B-ABB4-48B5-A838-B2B6DA7D1A98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F8ACA-603F-4A88-A10A-205FA9392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300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03B52-2F6B-4D1F-8C3F-32DD1827246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2D927-CED0-4404-8CFD-86F72F388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971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8934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8934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8934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8934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8934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8934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0"/>
            <a:ext cx="81534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6DFEB-0258-469D-A348-273C861B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BFA4FCE-C54E-4B53-A90D-71F7E4261151}" type="slidenum">
              <a:rPr lang="tr-TR"/>
              <a:pPr>
                <a:defRPr/>
              </a:pPr>
              <a:t>‹#›</a:t>
            </a:fld>
            <a:endParaRPr lang="tr-TR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91ECFE5-034E-445E-9D1F-C5663DE5836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356350"/>
            <a:ext cx="3276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dirty="0">
                <a:solidFill>
                  <a:srgbClr val="002060"/>
                </a:solidFill>
                <a:cs typeface="Arial" panose="020B0604020202020204" pitchFamily="34" charset="0"/>
              </a:rPr>
              <a:t>Instructor: P. K. Jena, NIST</a:t>
            </a:r>
            <a:endParaRPr lang="fr-FR" altLang="en-US" dirty="0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519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BEFC7D-B599-4E06-BC67-23ED2B4F2FA2}"/>
              </a:ext>
            </a:extLst>
          </p:cNvPr>
          <p:cNvSpPr/>
          <p:nvPr/>
        </p:nvSpPr>
        <p:spPr bwMode="white">
          <a:xfrm>
            <a:off x="0" y="1905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CB5421-D151-433C-888C-9EDDB82D55B0}"/>
              </a:ext>
            </a:extLst>
          </p:cNvPr>
          <p:cNvSpPr/>
          <p:nvPr/>
        </p:nvSpPr>
        <p:spPr>
          <a:xfrm>
            <a:off x="0" y="12954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656710-95C1-48DD-97EF-9DF521E1E40F}"/>
              </a:ext>
            </a:extLst>
          </p:cNvPr>
          <p:cNvSpPr/>
          <p:nvPr/>
        </p:nvSpPr>
        <p:spPr>
          <a:xfrm>
            <a:off x="1362547" y="12954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2954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12">
            <a:extLst>
              <a:ext uri="{FF2B5EF4-FFF2-40B4-BE49-F238E27FC236}">
                <a16:creationId xmlns:a16="http://schemas.microsoft.com/office/drawing/2014/main" id="{23CF1749-ADB9-415D-A9E4-544CA1A52C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1431925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D7D6D76-FB48-4A9B-B464-8904BDD35DCC}" type="slidenum">
              <a:rPr lang="tr-TR"/>
              <a:pPr>
                <a:defRPr/>
              </a:pPr>
              <a:t>‹#›</a:t>
            </a:fld>
            <a:endParaRPr lang="tr-TR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FCD2D26-A9B5-4EE9-B878-2E9EFA5663C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057400" y="4419600"/>
            <a:ext cx="3276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dirty="0">
                <a:solidFill>
                  <a:srgbClr val="002060"/>
                </a:solidFill>
                <a:cs typeface="Arial" panose="020B0604020202020204" pitchFamily="34" charset="0"/>
              </a:rPr>
              <a:t>Instructor: P. K. Jena, NIST</a:t>
            </a:r>
            <a:endParaRPr lang="fr-FR" altLang="en-US" dirty="0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9" name="Title 2"/>
          <p:cNvSpPr txBox="1">
            <a:spLocks/>
          </p:cNvSpPr>
          <p:nvPr userDrawn="1"/>
        </p:nvSpPr>
        <p:spPr bwMode="auto">
          <a:xfrm>
            <a:off x="533400" y="57912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sz="4400" b="0" kern="1200" cap="none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9pPr>
          </a:lstStyle>
          <a:p>
            <a:pPr algn="ctr"/>
            <a:r>
              <a:rPr lang="en-IN" sz="2400" b="1" dirty="0">
                <a:solidFill>
                  <a:srgbClr val="0F04E2"/>
                </a:solidFill>
              </a:rPr>
              <a:t>Under the Supervision of :</a:t>
            </a:r>
          </a:p>
          <a:p>
            <a:pPr algn="ctr"/>
            <a:r>
              <a:rPr lang="en-IN" sz="2400" b="1" dirty="0">
                <a:solidFill>
                  <a:srgbClr val="0F04E2"/>
                </a:solidFill>
              </a:rPr>
              <a:t>Prof. </a:t>
            </a:r>
            <a:r>
              <a:rPr lang="en-IN" sz="2400" b="1" dirty="0" err="1">
                <a:solidFill>
                  <a:srgbClr val="0F04E2"/>
                </a:solidFill>
              </a:rPr>
              <a:t>Charulata</a:t>
            </a:r>
            <a:r>
              <a:rPr lang="en-IN" sz="2400" b="1" dirty="0">
                <a:solidFill>
                  <a:srgbClr val="0F04E2"/>
                </a:solidFill>
              </a:rPr>
              <a:t> </a:t>
            </a:r>
            <a:r>
              <a:rPr lang="en-IN" sz="2400" b="1" dirty="0" err="1">
                <a:solidFill>
                  <a:srgbClr val="0F04E2"/>
                </a:solidFill>
              </a:rPr>
              <a:t>Palai</a:t>
            </a:r>
            <a:r>
              <a:rPr lang="en-IN" sz="2400" b="1" dirty="0">
                <a:solidFill>
                  <a:srgbClr val="0F04E2"/>
                </a:solidFill>
              </a:rPr>
              <a:t> &amp; Prof. Pradeep Ku. Jena</a:t>
            </a:r>
          </a:p>
        </p:txBody>
      </p:sp>
      <p:pic>
        <p:nvPicPr>
          <p:cNvPr id="11" name="Google Shape;12;p17"/>
          <p:cNvPicPr preferRelativeResize="0"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-37049" y="1353972"/>
            <a:ext cx="1369498" cy="873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73501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869A5-5091-4E3D-BDD0-11CD09E0E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07DA2CF-31D9-4103-8847-266A2F5FAC6C}" type="slidenum">
              <a:rPr lang="tr-TR"/>
              <a:pPr>
                <a:defRPr/>
              </a:pPr>
              <a:t>‹#›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BEAB1-4C25-44B1-A93E-EF91CF248B1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356350"/>
            <a:ext cx="3276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dirty="0">
                <a:solidFill>
                  <a:srgbClr val="002060"/>
                </a:solidFill>
                <a:cs typeface="Arial" panose="020B0604020202020204" pitchFamily="34" charset="0"/>
              </a:rPr>
              <a:t>Instructor: P. K. Jena, NIST</a:t>
            </a:r>
            <a:endParaRPr lang="fr-FR" altLang="en-US" dirty="0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697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21">
            <a:extLst>
              <a:ext uri="{FF2B5EF4-FFF2-40B4-BE49-F238E27FC236}">
                <a16:creationId xmlns:a16="http://schemas.microsoft.com/office/drawing/2014/main" id="{DE32A5A5-5E94-4BF3-BAE4-03B410ACF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12">
            <a:extLst>
              <a:ext uri="{FF2B5EF4-FFF2-40B4-BE49-F238E27FC236}">
                <a16:creationId xmlns:a16="http://schemas.microsoft.com/office/drawing/2014/main" id="{14846D90-3A02-45CC-8079-EB1C60724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55DE0F7D-F7B7-4180-B7D3-874484D6F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IN"/>
              <a:t>23/7/2024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D8CE22-2D5D-4D34-BF39-A177C30B01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IN" dirty="0"/>
              <a:t>CVML-2024</a:t>
            </a:r>
            <a:endParaRPr lang="tr-T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223C20-BE3C-4337-B79B-750075C4EC58}"/>
              </a:ext>
            </a:extLst>
          </p:cNvPr>
          <p:cNvSpPr/>
          <p:nvPr/>
        </p:nvSpPr>
        <p:spPr bwMode="white">
          <a:xfrm>
            <a:off x="0" y="1275093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70BDDF-1924-41B9-B498-A9B347C8E562}"/>
              </a:ext>
            </a:extLst>
          </p:cNvPr>
          <p:cNvSpPr/>
          <p:nvPr/>
        </p:nvSpPr>
        <p:spPr>
          <a:xfrm>
            <a:off x="0" y="914400"/>
            <a:ext cx="5334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DDF883-2484-42FD-8ED5-BE8F2797168D}"/>
              </a:ext>
            </a:extLst>
          </p:cNvPr>
          <p:cNvSpPr/>
          <p:nvPr/>
        </p:nvSpPr>
        <p:spPr>
          <a:xfrm>
            <a:off x="590550" y="914400"/>
            <a:ext cx="8553450" cy="228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5963E99-8E40-4CCB-832A-A8A1C17AC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914400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C753193-EDDB-4830-A27B-452FD8F352C5}" type="slidenum">
              <a:rPr lang="tr-TR"/>
              <a:pPr>
                <a:defRPr/>
              </a:pPr>
              <a:t>‹#›</a:t>
            </a:fld>
            <a:endParaRPr lang="tr-T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DDF883-2484-42FD-8ED5-BE8F2797168D}"/>
              </a:ext>
            </a:extLst>
          </p:cNvPr>
          <p:cNvSpPr/>
          <p:nvPr userDrawn="1"/>
        </p:nvSpPr>
        <p:spPr>
          <a:xfrm rot="16200000">
            <a:off x="-2565686" y="3744898"/>
            <a:ext cx="5681933" cy="514350"/>
          </a:xfrm>
          <a:prstGeom prst="rect">
            <a:avLst/>
          </a:prstGeom>
          <a:solidFill>
            <a:srgbClr val="07027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4000" b="1" dirty="0"/>
              <a:t>CVML - 2024</a:t>
            </a:r>
          </a:p>
        </p:txBody>
      </p:sp>
      <p:pic>
        <p:nvPicPr>
          <p:cNvPr id="11" name="Google Shape;12;p17"/>
          <p:cNvPicPr preferRelativeResize="0"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7774502" y="62716"/>
            <a:ext cx="1369498" cy="873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162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7" r:id="rId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E7BC29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092A7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jpeg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71600" y="1066800"/>
            <a:ext cx="7772400" cy="1371600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0F04E2"/>
                </a:solidFill>
              </a:rPr>
              <a:t>Handwritten Character Recognition</a:t>
            </a:r>
            <a:endParaRPr lang="en-IN" sz="3600" b="1" dirty="0">
              <a:solidFill>
                <a:srgbClr val="0F04E2"/>
              </a:solidFill>
            </a:endParaRPr>
          </a:p>
        </p:txBody>
      </p:sp>
      <p:sp>
        <p:nvSpPr>
          <p:cNvPr id="5" name="Title 2"/>
          <p:cNvSpPr txBox="1">
            <a:spLocks/>
          </p:cNvSpPr>
          <p:nvPr/>
        </p:nvSpPr>
        <p:spPr bwMode="auto">
          <a:xfrm>
            <a:off x="6096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sz="4400" b="0" kern="1200" cap="none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9pPr>
          </a:lstStyle>
          <a:p>
            <a:pPr algn="ctr"/>
            <a:r>
              <a:rPr lang="en-IN" sz="4800" b="1" dirty="0">
                <a:solidFill>
                  <a:srgbClr val="C00000"/>
                </a:solidFill>
              </a:rPr>
              <a:t>CVML - 2024</a:t>
            </a:r>
          </a:p>
        </p:txBody>
      </p:sp>
      <p:sp>
        <p:nvSpPr>
          <p:cNvPr id="4" name="Title 2"/>
          <p:cNvSpPr txBox="1">
            <a:spLocks/>
          </p:cNvSpPr>
          <p:nvPr/>
        </p:nvSpPr>
        <p:spPr bwMode="auto">
          <a:xfrm>
            <a:off x="616017" y="36576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sz="4400" b="0" kern="1200" cap="none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9pPr>
          </a:lstStyle>
          <a:p>
            <a:pPr algn="ctr"/>
            <a:r>
              <a:rPr lang="en-IN" sz="3200" b="1" dirty="0">
                <a:solidFill>
                  <a:srgbClr val="C00000"/>
                </a:solidFill>
              </a:rPr>
              <a:t>Team Members:</a:t>
            </a:r>
          </a:p>
          <a:p>
            <a:r>
              <a:rPr lang="en-IN" sz="2800" b="1" i="1" dirty="0">
                <a:solidFill>
                  <a:srgbClr val="0F04E2"/>
                </a:solidFill>
              </a:rPr>
              <a:t>1.Manab Behera</a:t>
            </a:r>
          </a:p>
          <a:p>
            <a:r>
              <a:rPr lang="en-IN" sz="2800" b="1" i="1" dirty="0">
                <a:solidFill>
                  <a:srgbClr val="0F04E2"/>
                </a:solidFill>
              </a:rPr>
              <a:t>2.V.G.Krishna Aditya</a:t>
            </a:r>
          </a:p>
          <a:p>
            <a:r>
              <a:rPr lang="en-IN" sz="2800" b="1" i="1" dirty="0">
                <a:solidFill>
                  <a:srgbClr val="0F04E2"/>
                </a:solidFill>
              </a:rPr>
              <a:t>3.Sukanya Choudhury</a:t>
            </a:r>
          </a:p>
          <a:p>
            <a:r>
              <a:rPr lang="en-IN" sz="2800" b="1" i="1" dirty="0">
                <a:solidFill>
                  <a:srgbClr val="0F04E2"/>
                </a:solidFill>
              </a:rPr>
              <a:t>4.Siba Prasad Sahu</a:t>
            </a:r>
          </a:p>
          <a:p>
            <a:r>
              <a:rPr lang="en-IN" sz="2800" b="1" i="1" dirty="0">
                <a:solidFill>
                  <a:srgbClr val="0F04E2"/>
                </a:solidFill>
              </a:rPr>
              <a:t>5.Deepak Nayak</a:t>
            </a:r>
          </a:p>
          <a:p>
            <a:endParaRPr lang="en-IN" sz="2000" b="1" dirty="0">
              <a:solidFill>
                <a:srgbClr val="0F04E2"/>
              </a:solidFill>
            </a:endParaRPr>
          </a:p>
          <a:p>
            <a:endParaRPr lang="en-IN" sz="2000" b="1" dirty="0">
              <a:solidFill>
                <a:srgbClr val="0F04E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546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7AE2C6-911E-4F1B-9A16-A7AD2B801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8801500" cy="9906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Project Objective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4294967295"/>
          </p:nvPr>
        </p:nvSpPr>
        <p:spPr>
          <a:xfrm>
            <a:off x="6096000" y="6248400"/>
            <a:ext cx="2667000" cy="365125"/>
          </a:xfrm>
        </p:spPr>
        <p:txBody>
          <a:bodyPr/>
          <a:lstStyle/>
          <a:p>
            <a:fld id="{2FC36A9E-1012-43DC-AEEB-C2629B1BB8EB}" type="datetime2">
              <a:rPr lang="en-US" smtClean="0"/>
              <a:t>Thursday, August 1, 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36871" y="1143000"/>
            <a:ext cx="533400" cy="244475"/>
          </a:xfrm>
        </p:spPr>
        <p:txBody>
          <a:bodyPr>
            <a:normAutofit fontScale="85000" lnSpcReduction="20000"/>
          </a:bodyPr>
          <a:lstStyle/>
          <a:p>
            <a:fld id="{9BFC8EC6-D07E-4A3F-85DE-74740372DE55}" type="slidenum">
              <a:rPr lang="en-US" smtClean="0"/>
              <a:t>2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F56903-1B4A-31E9-23DE-02C800DF1A1B}"/>
              </a:ext>
            </a:extLst>
          </p:cNvPr>
          <p:cNvSpPr/>
          <p:nvPr/>
        </p:nvSpPr>
        <p:spPr>
          <a:xfrm>
            <a:off x="685800" y="1387474"/>
            <a:ext cx="5562600" cy="12033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OBJECTIVE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: Aims to tackle the challenge of handwriting recognition using advanced techniques in computer vision and machine learning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F787A8-3EA4-B40C-93A8-B14A9D9341FE}"/>
              </a:ext>
            </a:extLst>
          </p:cNvPr>
          <p:cNvSpPr/>
          <p:nvPr/>
        </p:nvSpPr>
        <p:spPr>
          <a:xfrm>
            <a:off x="3200400" y="2743200"/>
            <a:ext cx="5791200" cy="1600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primary objective of this project is to develop an efficient and accurate system for recognizing hand written characters , digits , and symbols .By leveraging the power of  convolutional Neural Network(CNN) and support vector machines(SVMs) .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EDB368-FAC4-A7F1-366B-002616E91AD8}"/>
              </a:ext>
            </a:extLst>
          </p:cNvPr>
          <p:cNvSpPr/>
          <p:nvPr/>
        </p:nvSpPr>
        <p:spPr>
          <a:xfrm>
            <a:off x="685800" y="4495801"/>
            <a:ext cx="6096000" cy="1752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goal is to create a solution that can reliably and efficiently process handwritten inputs , paving the way for numerous applications in fields such as document processing ,digital archiving and human computer interaction.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7389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7AE2C6-911E-4F1B-9A16-A7AD2B801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8801500" cy="9906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Sample Dataset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4294967295"/>
          </p:nvPr>
        </p:nvSpPr>
        <p:spPr>
          <a:xfrm>
            <a:off x="6096000" y="6248400"/>
            <a:ext cx="2667000" cy="365125"/>
          </a:xfrm>
        </p:spPr>
        <p:txBody>
          <a:bodyPr/>
          <a:lstStyle/>
          <a:p>
            <a:fld id="{2FC36A9E-1012-43DC-AEEB-C2629B1BB8EB}" type="datetime2">
              <a:rPr lang="en-US" smtClean="0"/>
              <a:t>Thursday, August 1, 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BFC8EC6-D07E-4A3F-85DE-74740372DE55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39B55B-91A7-DB7A-40BA-2CEF99D57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71600"/>
            <a:ext cx="6511092" cy="266418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B1294C-0B64-F475-597F-ECF90F264172}"/>
              </a:ext>
            </a:extLst>
          </p:cNvPr>
          <p:cNvSpPr/>
          <p:nvPr/>
        </p:nvSpPr>
        <p:spPr>
          <a:xfrm>
            <a:off x="1066800" y="4343400"/>
            <a:ext cx="7696200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For handwritten character recognition we have taken handwritten images of digits , alphabets and special characters from the source </a:t>
            </a:r>
            <a: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(https://www.kaggle.com/datasets/nibinv23/iam-handwriting-word-database)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79364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7AE2C6-911E-4F1B-9A16-A7AD2B801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1000" y="152400"/>
            <a:ext cx="8763000" cy="6096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IN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NN </a:t>
            </a:r>
            <a:r>
              <a:rPr lang="en-IN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Architecture for </a:t>
            </a:r>
            <a:r>
              <a:rPr lang="en-IN" sz="36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Handwritting</a:t>
            </a:r>
            <a:r>
              <a:rPr lang="en-IN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recognition</a:t>
            </a:r>
            <a:endParaRPr lang="en-IN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4294967295"/>
          </p:nvPr>
        </p:nvSpPr>
        <p:spPr>
          <a:xfrm>
            <a:off x="6096000" y="6248400"/>
            <a:ext cx="2667000" cy="365125"/>
          </a:xfrm>
        </p:spPr>
        <p:txBody>
          <a:bodyPr/>
          <a:lstStyle/>
          <a:p>
            <a:fld id="{2FC36A9E-1012-43DC-AEEB-C2629B1BB8EB}" type="datetime2">
              <a:rPr lang="en-US" smtClean="0"/>
              <a:t>Thursday, August 1, 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BFC8EC6-D07E-4A3F-85DE-74740372DE55}" type="slidenum">
              <a:rPr lang="en-US" smtClean="0"/>
              <a:t>4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0CB95F-660C-6404-8202-96A9C28011E2}"/>
              </a:ext>
            </a:extLst>
          </p:cNvPr>
          <p:cNvSpPr/>
          <p:nvPr/>
        </p:nvSpPr>
        <p:spPr>
          <a:xfrm>
            <a:off x="762000" y="1371600"/>
            <a:ext cx="8001000" cy="175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DATA Collection and Preprocessing</a:t>
            </a:r>
          </a:p>
          <a:p>
            <a:pPr algn="ctr"/>
            <a:r>
              <a:rPr 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project will begin with the collection of and preprocessing of a diverse data set of handwritten samples . This crucial step will involve techniques such as image segmentation ,normalization ,and feature extraction to prepare the data for model training. </a:t>
            </a:r>
            <a:endParaRPr lang="en-IN" sz="2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358432-0125-28C3-687D-3BB6D1B90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505200"/>
            <a:ext cx="4953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364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3F7DD-9864-16F9-79A2-3A50487EB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IN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NN Architecture for </a:t>
            </a:r>
            <a:r>
              <a:rPr lang="en-IN" sz="36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Handwritting</a:t>
            </a:r>
            <a:r>
              <a:rPr lang="en-IN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recognition</a:t>
            </a:r>
            <a:endParaRPr lang="en-IN" sz="36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8DCFB7-EF25-560D-219D-E2EF96241E94}"/>
              </a:ext>
            </a:extLst>
          </p:cNvPr>
          <p:cNvSpPr/>
          <p:nvPr/>
        </p:nvSpPr>
        <p:spPr>
          <a:xfrm>
            <a:off x="726948" y="1371600"/>
            <a:ext cx="7924800" cy="2438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CNN Model Design </a:t>
            </a:r>
          </a:p>
          <a:p>
            <a:pPr algn="ctr"/>
            <a:r>
              <a:rPr 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team will design a tailored Convolutional Neural Network architecture that can effectively capture the unique characteristics of hand written patterns. The network will consist of multiple convolutional ,polling , and fully connected </a:t>
            </a:r>
            <a:r>
              <a:rPr lang="en-US" sz="2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layers,optimized</a:t>
            </a:r>
            <a:r>
              <a:rPr 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to achieve high accuracy in character and digit </a:t>
            </a:r>
            <a:r>
              <a:rPr lang="en-US" sz="2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recognition</a:t>
            </a: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.c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DB064E-777E-7CD6-E402-1D5552915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962400"/>
            <a:ext cx="7391399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805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E3905-6BEE-66D2-05F5-C38C526D9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0"/>
            <a:ext cx="8153400" cy="990600"/>
          </a:xfrm>
        </p:spPr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NN Architecture for </a:t>
            </a:r>
            <a:r>
              <a:rPr lang="en-IN" sz="32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Handwritting</a:t>
            </a:r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recognition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661597-3D55-5092-D7F3-16549298D3D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19200"/>
            <a:ext cx="8204380" cy="5410200"/>
          </a:xfrm>
        </p:spPr>
      </p:pic>
    </p:spTree>
    <p:extLst>
      <p:ext uri="{BB962C8B-B14F-4D97-AF65-F5344CB8AC3E}">
        <p14:creationId xmlns:p14="http://schemas.microsoft.com/office/powerpoint/2010/main" val="2581934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E3E92-FDE8-5FF4-EAFE-7F3030C1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9144000" cy="9144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IN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NN </a:t>
            </a:r>
            <a:r>
              <a:rPr lang="en-IN" sz="4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IN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rchitecture for Handwritten Recognition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09BA44-7A97-2656-F646-C53F7A91382B}"/>
              </a:ext>
            </a:extLst>
          </p:cNvPr>
          <p:cNvSpPr/>
          <p:nvPr/>
        </p:nvSpPr>
        <p:spPr>
          <a:xfrm>
            <a:off x="819150" y="1219200"/>
            <a:ext cx="7810500" cy="2209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Training and Evaluation </a:t>
            </a:r>
          </a:p>
          <a:p>
            <a:pPr algn="ctr"/>
            <a:r>
              <a:rPr 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CNN model will undergo rigorous training on the prepared dataset, using techniques such as data augmentation and regularization to enhance its performance. The team will evaluate the model’s accuracy , precision , recall using appropriate metrics to ensure its effectiveness in real world scenarios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.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EF90BB-B03A-DAAB-D9CF-E68055F55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696956"/>
            <a:ext cx="4648200" cy="26866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468E70-9091-346C-044D-6B4C67D362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772866"/>
            <a:ext cx="3905250" cy="260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30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7AE2C6-911E-4F1B-9A16-A7AD2B801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8801500" cy="9906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Result Analysis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4294967295"/>
          </p:nvPr>
        </p:nvSpPr>
        <p:spPr>
          <a:xfrm>
            <a:off x="6096000" y="6248400"/>
            <a:ext cx="2667000" cy="365125"/>
          </a:xfrm>
        </p:spPr>
        <p:txBody>
          <a:bodyPr/>
          <a:lstStyle/>
          <a:p>
            <a:fld id="{2FC36A9E-1012-43DC-AEEB-C2629B1BB8EB}" type="datetime2">
              <a:rPr lang="en-US" smtClean="0"/>
              <a:t>Thursday, August 1, 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BFC8EC6-D07E-4A3F-85DE-74740372DE55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19DE87-7F0B-9F36-5DB4-304F72F63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95400"/>
            <a:ext cx="5334000" cy="28678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3F1977-BF2E-781A-18AC-602CCCA8CB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943100"/>
            <a:ext cx="2133600" cy="876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6DF993-5EB9-4F21-56A0-ED733661443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057400"/>
            <a:ext cx="1143000" cy="6719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4FA529-6EBC-6FAF-08FE-36B1DA47C42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3580508"/>
            <a:ext cx="1828800" cy="458093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B76B14-C86D-1D6F-094B-499313C28C35}"/>
              </a:ext>
            </a:extLst>
          </p:cNvPr>
          <p:cNvSpPr/>
          <p:nvPr/>
        </p:nvSpPr>
        <p:spPr>
          <a:xfrm>
            <a:off x="495719" y="4343400"/>
            <a:ext cx="5447881" cy="1905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With 94% accuracy when the model was introduced for testing of user’s </a:t>
            </a:r>
          </a:p>
          <a:p>
            <a:pPr algn="ctr"/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Handwritting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,the model is able to detect the characters present in the text with some </a:t>
            </a: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noises.That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may be due to training with 94% accuracy.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44BEE2-14B7-64A3-3FA5-B6CEDB10AD20}"/>
              </a:ext>
            </a:extLst>
          </p:cNvPr>
          <p:cNvSpPr/>
          <p:nvPr/>
        </p:nvSpPr>
        <p:spPr>
          <a:xfrm>
            <a:off x="6043246" y="1295400"/>
            <a:ext cx="3048000" cy="5077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After dataset collection and preprocessing the model was introduced towards training of handwritten digits , characters  , special characters and others by giving approx. 30 epochs to it.as result to this the model was trained with an accuracy of approx. 94% under training dataset.</a:t>
            </a:r>
            <a:endParaRPr lang="en-IN" sz="2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6514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7AE2C6-911E-4F1B-9A16-A7AD2B801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8801500" cy="9906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Result Analysis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4294967295"/>
          </p:nvPr>
        </p:nvSpPr>
        <p:spPr>
          <a:xfrm>
            <a:off x="6096000" y="6248400"/>
            <a:ext cx="2667000" cy="365125"/>
          </a:xfrm>
        </p:spPr>
        <p:txBody>
          <a:bodyPr/>
          <a:lstStyle/>
          <a:p>
            <a:fld id="{2FC36A9E-1012-43DC-AEEB-C2629B1BB8EB}" type="datetime2">
              <a:rPr lang="en-US" smtClean="0"/>
              <a:t>Thursday, August 1, 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BFC8EC6-D07E-4A3F-85DE-74740372DE55}" type="slidenum">
              <a:rPr lang="en-US" smtClean="0"/>
              <a:t>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1B7A89-5A75-AF16-E1F6-6EEC64E7E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52223"/>
            <a:ext cx="4495800" cy="537452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89B341-CEC0-FD93-6210-414D7FF1EE47}"/>
              </a:ext>
            </a:extLst>
          </p:cNvPr>
          <p:cNvSpPr/>
          <p:nvPr/>
        </p:nvSpPr>
        <p:spPr>
          <a:xfrm>
            <a:off x="5334000" y="5105400"/>
            <a:ext cx="3580982" cy="1155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Similarly, here are some other predicted outputs for their respected inputs!</a:t>
            </a:r>
            <a:endParaRPr lang="en-IN" sz="2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97DBF7-D625-AFC6-A85B-D2D2DA0DE1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200900"/>
            <a:ext cx="3580982" cy="382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64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4294967295"/>
          </p:nvPr>
        </p:nvSpPr>
        <p:spPr>
          <a:xfrm>
            <a:off x="6096000" y="6248400"/>
            <a:ext cx="2667000" cy="365125"/>
          </a:xfrm>
        </p:spPr>
        <p:txBody>
          <a:bodyPr/>
          <a:lstStyle/>
          <a:p>
            <a:fld id="{2FC36A9E-1012-43DC-AEEB-C2629B1BB8EB}" type="datetime2">
              <a:rPr lang="en-US" smtClean="0"/>
              <a:t>Thursday, August 1, 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BFC8EC6-D07E-4A3F-85DE-74740372DE55}" type="slidenum">
              <a:rPr lang="en-US" smtClean="0"/>
              <a:t>10</a:t>
            </a:fld>
            <a:endParaRPr lang="en-US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D7AE2C6-911E-4F1B-9A16-A7AD2B8015E3}"/>
              </a:ext>
            </a:extLst>
          </p:cNvPr>
          <p:cNvSpPr txBox="1">
            <a:spLocks/>
          </p:cNvSpPr>
          <p:nvPr/>
        </p:nvSpPr>
        <p:spPr bwMode="auto">
          <a:xfrm>
            <a:off x="609600" y="3276600"/>
            <a:ext cx="88015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9pPr>
          </a:lstStyle>
          <a:p>
            <a:pPr algn="ctr"/>
            <a:r>
              <a:rPr lang="en-IN" sz="8800" b="1" dirty="0">
                <a:solidFill>
                  <a:srgbClr val="0F04E2"/>
                </a:solidFill>
                <a:latin typeface="Script MT Bold" pitchFamily="66" charset="0"/>
                <a:cs typeface="Times New Roman" pitchFamily="18" charset="0"/>
              </a:rPr>
              <a:t>Thank You</a:t>
            </a:r>
            <a:endParaRPr lang="en-IN" sz="3200" b="1" dirty="0">
              <a:solidFill>
                <a:srgbClr val="0F04E2"/>
              </a:solidFill>
              <a:latin typeface="Script MT Bold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3641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34217</TotalTime>
  <Words>468</Words>
  <Application>Microsoft Office PowerPoint</Application>
  <PresentationFormat>On-screen Show (4:3)</PresentationFormat>
  <Paragraphs>43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Script MT Bold</vt:lpstr>
      <vt:lpstr>Tahoma</vt:lpstr>
      <vt:lpstr>Times New Roman</vt:lpstr>
      <vt:lpstr>Tw Cen MT</vt:lpstr>
      <vt:lpstr>Wingdings</vt:lpstr>
      <vt:lpstr>Wingdings 2</vt:lpstr>
      <vt:lpstr>Median</vt:lpstr>
      <vt:lpstr>Handwritten Character Recognition</vt:lpstr>
      <vt:lpstr>Project Objective</vt:lpstr>
      <vt:lpstr>Sample Dataset</vt:lpstr>
      <vt:lpstr>CNN Architecture for Handwritting recognition</vt:lpstr>
      <vt:lpstr>CNN Architecture for Handwritting recognition</vt:lpstr>
      <vt:lpstr>CNN Architecture for Handwritting recognition</vt:lpstr>
      <vt:lpstr>CNN Architecture for Handwritten Recognition</vt:lpstr>
      <vt:lpstr>Result Analysis</vt:lpstr>
      <vt:lpstr>Result Analysis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sukanyachoudhury2003@gmail.com</cp:lastModifiedBy>
  <cp:revision>1543</cp:revision>
  <dcterms:created xsi:type="dcterms:W3CDTF">2018-05-01T09:11:12Z</dcterms:created>
  <dcterms:modified xsi:type="dcterms:W3CDTF">2024-08-01T05:02:36Z</dcterms:modified>
</cp:coreProperties>
</file>